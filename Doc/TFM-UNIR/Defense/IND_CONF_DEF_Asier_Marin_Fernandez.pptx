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8" roundtripDataSignature="AMtx7mh45g/EZmMWZxLGrbPtc4MYqD+H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F28C36-9F8E-40DA-9CBA-AB2F122F81A7}">
  <a:tblStyle styleId="{31F28C36-9F8E-40DA-9CBA-AB2F122F81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cap="all" spc="15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Rendimiento (ms)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45D2D9"/>
            </a:solid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Hoja1!$A$2:$A$9</c:f>
              <c:strCache>
                <c:ptCount val="8"/>
                <c:pt idx="0">
                  <c:v>simpleplant/plants</c:v>
                </c:pt>
                <c:pt idx="1">
                  <c:v>simpleplants/tenantplants</c:v>
                </c:pt>
                <c:pt idx="2">
                  <c:v>simpleplants/plant/</c:v>
                </c:pt>
                <c:pt idx="3">
                  <c:v>simplemachine/machineinfo</c:v>
                </c:pt>
                <c:pt idx="4">
                  <c:v>extendedplant/plant</c:v>
                </c:pt>
                <c:pt idx="5">
                  <c:v>extendedplant/tenant/canary</c:v>
                </c:pt>
                <c:pt idx="6">
                  <c:v>simplemachine/machineinfos</c:v>
                </c:pt>
                <c:pt idx="7">
                  <c:v>extendedmachine/machineinfo</c:v>
                </c:pt>
              </c:strCache>
            </c:strRef>
          </c:cat>
          <c:val>
            <c:numRef>
              <c:f>Hoja1!$B$2:$B$9</c:f>
              <c:numCache>
                <c:formatCode>General</c:formatCode>
                <c:ptCount val="8"/>
                <c:pt idx="0">
                  <c:v>6348</c:v>
                </c:pt>
                <c:pt idx="1">
                  <c:v>3166</c:v>
                </c:pt>
                <c:pt idx="2">
                  <c:v>3237</c:v>
                </c:pt>
                <c:pt idx="3">
                  <c:v>2263</c:v>
                </c:pt>
                <c:pt idx="4">
                  <c:v>3073</c:v>
                </c:pt>
                <c:pt idx="5">
                  <c:v>2519</c:v>
                </c:pt>
                <c:pt idx="6">
                  <c:v>2956</c:v>
                </c:pt>
                <c:pt idx="7">
                  <c:v>3057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DB-4004-9CCA-9B77031AE1E1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Columna2</c:v>
                </c:pt>
              </c:strCache>
            </c:strRef>
          </c:tx>
          <c:spPr>
            <a:solidFill>
              <a:srgbClr val="45D2D9"/>
            </a:solidFill>
            <a:ln>
              <a:solidFill>
                <a:srgbClr val="45D2D9"/>
              </a:solidFill>
            </a:ln>
            <a:effectLst>
              <a:innerShdw blurRad="114300">
                <a:srgbClr val="45D2D9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Hoja1!$A$2:$A$9</c:f>
              <c:strCache>
                <c:ptCount val="8"/>
                <c:pt idx="0">
                  <c:v>simpleplant/plants</c:v>
                </c:pt>
                <c:pt idx="1">
                  <c:v>simpleplants/tenantplants</c:v>
                </c:pt>
                <c:pt idx="2">
                  <c:v>simpleplants/plant/</c:v>
                </c:pt>
                <c:pt idx="3">
                  <c:v>simplemachine/machineinfo</c:v>
                </c:pt>
                <c:pt idx="4">
                  <c:v>extendedplant/plant</c:v>
                </c:pt>
                <c:pt idx="5">
                  <c:v>extendedplant/tenant/canary</c:v>
                </c:pt>
                <c:pt idx="6">
                  <c:v>simplemachine/machineinfos</c:v>
                </c:pt>
                <c:pt idx="7">
                  <c:v>extendedmachine/machineinfo</c:v>
                </c:pt>
              </c:strCache>
            </c:strRef>
          </c:cat>
          <c:val>
            <c:numRef>
              <c:f>Hoja1!$C$2:$C$9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1-2ADB-4004-9CCA-9B77031AE1E1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Columna1</c:v>
                </c:pt>
              </c:strCache>
            </c:strRef>
          </c:tx>
          <c:spPr>
            <a:pattFill prst="narHorz">
              <a:fgClr>
                <a:schemeClr val="accent3"/>
              </a:fgClr>
              <a:bgClr>
                <a:schemeClr val="accent3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3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Hoja1!$A$2:$A$9</c:f>
              <c:strCache>
                <c:ptCount val="8"/>
                <c:pt idx="0">
                  <c:v>simpleplant/plants</c:v>
                </c:pt>
                <c:pt idx="1">
                  <c:v>simpleplants/tenantplants</c:v>
                </c:pt>
                <c:pt idx="2">
                  <c:v>simpleplants/plant/</c:v>
                </c:pt>
                <c:pt idx="3">
                  <c:v>simplemachine/machineinfo</c:v>
                </c:pt>
                <c:pt idx="4">
                  <c:v>extendedplant/plant</c:v>
                </c:pt>
                <c:pt idx="5">
                  <c:v>extendedplant/tenant/canary</c:v>
                </c:pt>
                <c:pt idx="6">
                  <c:v>simplemachine/machineinfos</c:v>
                </c:pt>
                <c:pt idx="7">
                  <c:v>extendedmachine/machineinfo</c:v>
                </c:pt>
              </c:strCache>
            </c:strRef>
          </c:cat>
          <c:val>
            <c:numRef>
              <c:f>Hoja1!$D$2:$D$9</c:f>
              <c:numCache>
                <c:formatCode>General</c:formatCode>
                <c:ptCount val="8"/>
              </c:numCache>
            </c:numRef>
          </c:val>
          <c:extLst>
            <c:ext xmlns:c16="http://schemas.microsoft.com/office/drawing/2014/chart" uri="{C3380CC4-5D6E-409C-BE32-E72D297353CC}">
              <c16:uniqueId val="{00000002-2ADB-4004-9CCA-9B77031AE1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22"/>
        <c:axId val="567473472"/>
        <c:axId val="848798280"/>
      </c:barChart>
      <c:catAx>
        <c:axId val="567473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848798280"/>
        <c:crosses val="autoZero"/>
        <c:auto val="1"/>
        <c:lblAlgn val="ctr"/>
        <c:lblOffset val="100"/>
        <c:noMultiLvlLbl val="0"/>
      </c:catAx>
      <c:valAx>
        <c:axId val="848798280"/>
        <c:scaling>
          <c:orientation val="minMax"/>
          <c:max val="65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567473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7587127695994521"/>
          <c:y val="0.12278764230466804"/>
          <c:w val="5.7436190041462207E-2"/>
          <c:h val="6.00338361947493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jp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2510443"/>
            <a:ext cx="9144000" cy="9995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ES"/>
              <a:t>Proyecto fin de grado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Diseño e implementación de una interfaz remota para la gestión de un bus de servicios industriales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748146" y="5257799"/>
            <a:ext cx="4946072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Asier Marin Fernandez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Director: Jonatan Ruiz de Garibay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Vitoria, junio de 2021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5101" y="589005"/>
            <a:ext cx="2495023" cy="1011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5404" y="760295"/>
            <a:ext cx="3919671" cy="60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Índice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8200" y="1825624"/>
            <a:ext cx="10515599" cy="44264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Motivación/Objetivos/Alcance</a:t>
            </a:r>
            <a:endParaRPr/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Sherlock/Microservicios</a:t>
            </a:r>
            <a:endParaRPr/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/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Diseño/Comunicación/Autenticación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i="1" lang="es-ES">
                <a:latin typeface="Calibri"/>
                <a:ea typeface="Calibri"/>
                <a:cs typeface="Calibri"/>
                <a:sym typeface="Calibri"/>
              </a:rPr>
              <a:t>Data-transfer-objects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Memoria caché</a:t>
            </a:r>
            <a:endParaRPr/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i="1" lang="es-ES">
                <a:latin typeface="Calibri"/>
                <a:ea typeface="Calibri"/>
                <a:cs typeface="Calibri"/>
                <a:sym typeface="Calibri"/>
              </a:rPr>
              <a:t>Testing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Resultados/Características/Conclusiones</a:t>
            </a:r>
            <a:endParaRPr/>
          </a:p>
          <a:p>
            <a:pPr indent="-514350" lvl="0" marL="51435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Implementaciones futuras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838201" y="5882784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01" name="Google Shape;10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Motivación</a:t>
            </a:r>
            <a:endParaRPr/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838200" y="2282361"/>
            <a:ext cx="10153261" cy="3600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Gestión, monitorización y configuración remota.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Nexo comunicativo entre microservicios.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Lógica de datos rápida de manera volátil y no volátil.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Detección de errores en planta.</a:t>
            </a:r>
            <a:endParaRPr/>
          </a:p>
        </p:txBody>
      </p:sp>
      <p:pic>
        <p:nvPicPr>
          <p:cNvPr descr="Imagen que contiene Logotipo&#10;&#10;Descripción generada automáticamente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 txBox="1"/>
          <p:nvPr/>
        </p:nvSpPr>
        <p:spPr>
          <a:xfrm>
            <a:off x="838201" y="5882784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Objetivos</a:t>
            </a:r>
            <a:endParaRPr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838200" y="1825625"/>
            <a:ext cx="10515600" cy="3602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Integración en ecosistema.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Coherencia del diseño basado en los microservicios.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Abstracción de componentes funcionales.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Cerrado para su modificación pero abierta a su extensión.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Arquitectura correcta y limpia basado en patrones de diseño. Arquitectura “orquestable”.</a:t>
            </a:r>
            <a:endParaRPr/>
          </a:p>
        </p:txBody>
      </p:sp>
      <p:sp>
        <p:nvSpPr>
          <p:cNvPr id="117" name="Google Shape;117;p4"/>
          <p:cNvSpPr txBox="1"/>
          <p:nvPr/>
        </p:nvSpPr>
        <p:spPr>
          <a:xfrm>
            <a:off x="838201" y="5882784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Alcance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8200" y="1825625"/>
            <a:ext cx="4343400" cy="3602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Diseño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Creación de infraestructura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Implementación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s-ES" sz="2400">
                <a:latin typeface="Calibri"/>
                <a:ea typeface="Calibri"/>
                <a:cs typeface="Calibri"/>
                <a:sym typeface="Calibri"/>
              </a:rPr>
              <a:t>Testing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26" name="Google Shape;126;p5"/>
          <p:cNvSpPr txBox="1"/>
          <p:nvPr/>
        </p:nvSpPr>
        <p:spPr>
          <a:xfrm>
            <a:off x="838201" y="5882784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127" name="Google Shape;12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abla&#10;&#10;Descripción generada automáticamente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4737" y="1690688"/>
            <a:ext cx="2795587" cy="367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Sherlock</a:t>
            </a:r>
            <a:endParaRPr/>
          </a:p>
        </p:txBody>
      </p:sp>
      <p:sp>
        <p:nvSpPr>
          <p:cNvPr id="135" name="Google Shape;135;p6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37" name="Google Shape;13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Descripción generada automáticamente" id="138" name="Google Shape;138;p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23129" y="1690688"/>
            <a:ext cx="774574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Microservicios</a:t>
            </a:r>
            <a:endParaRPr/>
          </a:p>
        </p:txBody>
      </p:sp>
      <p:sp>
        <p:nvSpPr>
          <p:cNvPr id="144" name="Google Shape;144;p7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758914" y="1951252"/>
            <a:ext cx="480368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División funcional de componentes.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independiente.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Escalado independiente.</a:t>
            </a:r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0566" y="2479606"/>
            <a:ext cx="6153234" cy="254793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5562600" y="1951252"/>
            <a:ext cx="58704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Monolítico                                             Microservicios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Metodología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157" name="Google Shape;15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58" name="Google Shape;15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Diseño general</a:t>
            </a:r>
            <a:endParaRPr/>
          </a:p>
        </p:txBody>
      </p:sp>
      <p:pic>
        <p:nvPicPr>
          <p:cNvPr descr="Diagrama, Dibujo de ingeniería&#10;&#10;Descripción generada automáticamente" id="164" name="Google Shape;16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223" y="1533503"/>
            <a:ext cx="5145759" cy="460962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9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67" name="Google Shape;16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Comunicación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&#10;&#10;Descripción generada automáticamente" id="174" name="Google Shape;17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6112" y="1847871"/>
            <a:ext cx="5819775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175" name="Google Shape;1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76" name="Google Shape;17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Monitoring Server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rma, Polígono&#10;&#10;Descripción generada automáticamente" id="183" name="Google Shape;183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9755" y="1573348"/>
            <a:ext cx="6472490" cy="46592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184" name="Google Shape;1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85" name="Google Shape;1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Monitoring Front</a:t>
            </a:r>
            <a:endParaRPr/>
          </a:p>
        </p:txBody>
      </p:sp>
      <p:sp>
        <p:nvSpPr>
          <p:cNvPr id="191" name="Google Shape;191;p12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terfaz de usuario gráfica&#10;&#10;Descripción generada automáticamente con confianza media" id="192" name="Google Shape;192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3365" y="1774262"/>
            <a:ext cx="7065270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193" name="Google Shape;19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194" name="Google Shape;194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Data-transfer-objects</a:t>
            </a:r>
            <a:endParaRPr/>
          </a:p>
        </p:txBody>
      </p:sp>
      <p:sp>
        <p:nvSpPr>
          <p:cNvPr id="200" name="Google Shape;200;p13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0512" y="1825625"/>
            <a:ext cx="8650976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202" name="Google Shape;2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03" name="Google Shape;20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Caché I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838201" y="625211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11" name="Google Shape;2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a&#10;&#10;Descripción generada automáticamente" id="212" name="Google Shape;2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9021" y="2244655"/>
            <a:ext cx="5353958" cy="3297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Caché II</a:t>
            </a:r>
            <a:endParaRPr/>
          </a:p>
        </p:txBody>
      </p:sp>
      <p:sp>
        <p:nvSpPr>
          <p:cNvPr id="218" name="Google Shape;218;p15"/>
          <p:cNvSpPr txBox="1"/>
          <p:nvPr/>
        </p:nvSpPr>
        <p:spPr>
          <a:xfrm>
            <a:off x="838201" y="625211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&#10;&#10;Descripción generada automáticamente" id="219" name="Google Shape;21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268" y="1690688"/>
            <a:ext cx="5273463" cy="44773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220" name="Google Shape;2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21" name="Google Shape;2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Caché III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838201" y="6252116"/>
            <a:ext cx="10515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228" name="Google Shape;2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29" name="Google Shape;2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p16"/>
          <p:cNvGraphicFramePr/>
          <p:nvPr/>
        </p:nvGraphicFramePr>
        <p:xfrm>
          <a:off x="838203" y="2540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{31F28C36-9F8E-40DA-9CBA-AB2F122F81A7}</a:tableStyleId>
              </a:tblPr>
              <a:tblGrid>
                <a:gridCol w="3505200"/>
                <a:gridCol w="3505200"/>
                <a:gridCol w="3505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N* Tenants</a:t>
                      </a: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 memoria aproximada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ES" sz="18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Reserva mínima necesaria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2,0861 KB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3,000 KB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20,861 KB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21,000 KB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187,749 KB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200,000 KB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1,04305 MB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2 MB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2,0861 MB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4 MB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Testing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a&#10;&#10;Descripción generada automáticamente" id="237" name="Google Shape;23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1714" y="1690688"/>
            <a:ext cx="5748572" cy="22306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Logotipo&#10;&#10;Descripción generada automáticamente" id="238" name="Google Shape;2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39" name="Google Shape;2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Descripción generada automáticamente" id="240" name="Google Shape;240;p17"/>
          <p:cNvPicPr preferRelativeResize="0"/>
          <p:nvPr/>
        </p:nvPicPr>
        <p:blipFill rotWithShape="1">
          <a:blip r:embed="rId6">
            <a:alphaModFix/>
          </a:blip>
          <a:srcRect b="113467" l="0" r="0" t="-42732"/>
          <a:stretch/>
        </p:blipFill>
        <p:spPr>
          <a:xfrm>
            <a:off x="1332835" y="537759"/>
            <a:ext cx="9526329" cy="16922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&#10;&#10;Descripción generada automáticamente" id="241" name="Google Shape;241;p17"/>
          <p:cNvPicPr preferRelativeResize="0"/>
          <p:nvPr/>
        </p:nvPicPr>
        <p:blipFill rotWithShape="1">
          <a:blip r:embed="rId7">
            <a:alphaModFix/>
          </a:blip>
          <a:srcRect b="71977" l="0" r="0" t="1178"/>
          <a:stretch/>
        </p:blipFill>
        <p:spPr>
          <a:xfrm>
            <a:off x="1332835" y="4183274"/>
            <a:ext cx="9526329" cy="155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Rendimiento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18"/>
          <p:cNvGraphicFramePr/>
          <p:nvPr/>
        </p:nvGraphicFramePr>
        <p:xfrm>
          <a:off x="838200" y="1847871"/>
          <a:ext cx="10515600" cy="4329092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descr="Imagen que contiene Logotipo&#10;&#10;Descripción generada automáticamente" id="249" name="Google Shape;2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50" name="Google Shape;2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Características principales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Ágil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Coherente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Eficiente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Buen rendimiento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Robusto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Diseño “orquestable”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Escalabilidad independiente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Extensible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-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Seguro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258" name="Google Shape;2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59" name="Google Shape;2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265" name="Google Shape;265;p20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Integración en ecosistema.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Coherencia del diseño basado en los microservicios.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Abstracción de componentes funcionales.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Cerrado para su modificación pero abierta a su extensión.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Arquitectura correcta y limpia basado en patrones de diseño. Arquitectura “orquestable”.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267" name="Google Shape;2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68" name="Google Shape;2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&#10;&#10;Descripción generada automáticamente" id="269" name="Google Shape;26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4397" y="1750472"/>
            <a:ext cx="544383" cy="544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&#10;&#10;Descripción generada automáticamente" id="270" name="Google Shape;27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31801" y="2294855"/>
            <a:ext cx="544383" cy="544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&#10;&#10;Descripción generada automáticamente" id="271" name="Google Shape;27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66895" y="2790760"/>
            <a:ext cx="544383" cy="544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&#10;&#10;Descripción generada automáticamente" id="272" name="Google Shape;27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68919" y="3335143"/>
            <a:ext cx="544383" cy="544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&#10;&#10;Descripción generada automáticamente" id="273" name="Google Shape;27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28157" y="4198203"/>
            <a:ext cx="544383" cy="544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Implementaciones </a:t>
            </a:r>
            <a:br>
              <a:rPr lang="es-ES"/>
            </a:br>
            <a:r>
              <a:rPr lang="es-ES"/>
              <a:t>futuras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1"/>
          <p:cNvSpPr txBox="1"/>
          <p:nvPr>
            <p:ph idx="1" type="body"/>
          </p:nvPr>
        </p:nvSpPr>
        <p:spPr>
          <a:xfrm>
            <a:off x="838200" y="2402378"/>
            <a:ext cx="10515600" cy="3774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Mejora tiempo de respuesta peticiones sin caché (petición inicial).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Programación orientada a aspectos.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Desarrollo de lógica de presentación final.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s-ES">
                <a:latin typeface="Calibri"/>
                <a:ea typeface="Calibri"/>
                <a:cs typeface="Calibri"/>
                <a:sym typeface="Calibri"/>
              </a:rPr>
              <a:t>Pruebas unitarias Interfaz de Monitorización.</a:t>
            </a:r>
            <a:endParaRPr/>
          </a:p>
        </p:txBody>
      </p:sp>
      <p:pic>
        <p:nvPicPr>
          <p:cNvPr descr="Imagen que contiene Logotipo&#10;&#10;Descripción generada automáticamente" id="281" name="Google Shape;2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82" name="Google Shape;2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2"/>
          <p:cNvSpPr txBox="1"/>
          <p:nvPr>
            <p:ph type="title"/>
          </p:nvPr>
        </p:nvSpPr>
        <p:spPr>
          <a:xfrm>
            <a:off x="838200" y="264179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s-ES" sz="6600"/>
              <a:t>¿Preguntas?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38201" y="6252116"/>
            <a:ext cx="105155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Asier Marin Fernandez                                      Proyecto fin de grado                                                                             </a:t>
            </a:r>
            <a:fld id="{00000000-1234-1234-1234-123412341234}" type="slidenum">
              <a:rPr lang="es-ES" sz="1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que contiene Logotipo&#10;&#10;Descripción generada automáticamente" id="289" name="Google Shape;2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605884"/>
            <a:ext cx="1372985" cy="5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bujo de un perro&#10;&#10;Descripción generada automáticamente con confianza media" id="290" name="Google Shape;29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0723" y="1299434"/>
            <a:ext cx="1207937" cy="207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2021-06-23T05:41:38Z</dcterms:created>
  <dc:creator>Asier Marin Fernandez</dc:creator>
</cp:coreProperties>
</file>